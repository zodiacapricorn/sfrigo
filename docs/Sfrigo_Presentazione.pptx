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6F3"/>
    <a:srgbClr val="1D8F84"/>
    <a:srgbClr val="B8E5EE"/>
    <a:srgbClr val="0F4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09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B6E64">
              <a:alpha val="4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2926080" cy="2926080"/>
          </a:xfrm>
          <a:prstGeom prst="ellipse">
            <a:avLst/>
          </a:prstGeom>
          <a:solidFill>
            <a:srgbClr val="F4623A">
              <a:alpha val="2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DI PROGETTAZIONE, ALGORITMI E COMPUTABILITA’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2651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Sfrigo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685800" y="39776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collaborativa e intelligente del frigorifero condiviso</a:t>
            </a:r>
            <a:endParaRPr lang="en-US" sz="1900" dirty="0"/>
          </a:p>
        </p:txBody>
      </p:sp>
      <p:sp>
        <p:nvSpPr>
          <p:cNvPr id="21" name="Text 14"/>
          <p:cNvSpPr/>
          <p:nvPr/>
        </p:nvSpPr>
        <p:spPr>
          <a:xfrm>
            <a:off x="8258497" y="6012180"/>
            <a:ext cx="3009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PAGANELLI THOMAS	MAT. 1085805 </a:t>
            </a:r>
          </a:p>
          <a:p>
            <a:r>
              <a:rPr lang="en-US" sz="1150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RADU ANTONIO	MAT. 1085992 </a:t>
            </a:r>
          </a:p>
          <a:p>
            <a:r>
              <a:rPr lang="en-US" sz="1150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PETRISOR ANDREI	MAT. 1085993 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E OBIETTIVI DEL PROGETTO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93468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982980" y="19993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Ridurre gli sprechi alimentari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800600" y="1989552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Tracciamento delle scadenze e prioritizzazione dei consumi tramite scoring di urgenza.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8308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982980" y="2858387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Facilitare la condivisione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00600" y="2885664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 proprietà e condivisione trasparente tra i membri del frigorifero.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72691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982980" y="377107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Migliorare l'organizzazione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800600" y="3781776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Categorizzazione, ricerca e ordinamento dinamico degli alimenti in inventario.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62302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6"/>
          <p:cNvSpPr/>
          <p:nvPr/>
        </p:nvSpPr>
        <p:spPr>
          <a:xfrm>
            <a:off x="982980" y="467724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Supportare la creazione di ricette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800600" y="4677888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di ricette basate sugli ingredienti disponibili tramite modelli AI.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551913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0"/>
          <p:cNvSpPr/>
          <p:nvPr/>
        </p:nvSpPr>
        <p:spPr>
          <a:xfrm>
            <a:off x="982980" y="55740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Garantire equità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800600" y="5574000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di distribuzione dei costi per un contributo bilanciato tra </a:t>
            </a:r>
            <a:r>
              <a:rPr lang="en-US" sz="120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membri</a:t>
            </a: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ricette</a:t>
            </a: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condivise</a:t>
            </a: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A415CAEB-B300-1D2F-9033-5BEB339F31B5}"/>
              </a:ext>
            </a:extLst>
          </p:cNvPr>
          <p:cNvSpPr/>
          <p:nvPr/>
        </p:nvSpPr>
        <p:spPr>
          <a:xfrm>
            <a:off x="548640" y="610958"/>
            <a:ext cx="10881360" cy="1435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condivisione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frigorifero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studenti, giovani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lavoratori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famiglie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allargate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fonte ricorrente di inefficienze: alimenti scaduti, acquisti duplicati e proprietà incerta dei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prodotti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50" dirty="0">
              <a:solidFill>
                <a:srgbClr val="5B73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risolvere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tramite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A8369183-27CA-0C75-AC8A-943DCD7D1230}"/>
              </a:ext>
            </a:extLst>
          </p:cNvPr>
          <p:cNvSpPr/>
          <p:nvPr/>
        </p:nvSpPr>
        <p:spPr>
          <a:xfrm>
            <a:off x="679770" y="1989552"/>
            <a:ext cx="2406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50" dirty="0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0BE0460-A5CA-B593-AFAE-6022607CE44C}"/>
              </a:ext>
            </a:extLst>
          </p:cNvPr>
          <p:cNvSpPr txBox="1"/>
          <p:nvPr/>
        </p:nvSpPr>
        <p:spPr>
          <a:xfrm>
            <a:off x="597022" y="3002403"/>
            <a:ext cx="406154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</a:rPr>
              <a:t>2.</a:t>
            </a:r>
            <a:endParaRPr lang="it-IT" dirty="0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CB234475-29A8-82B9-0CFA-3423547D6784}"/>
              </a:ext>
            </a:extLst>
          </p:cNvPr>
          <p:cNvSpPr txBox="1"/>
          <p:nvPr/>
        </p:nvSpPr>
        <p:spPr>
          <a:xfrm>
            <a:off x="597022" y="3915094"/>
            <a:ext cx="406154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</a:rPr>
              <a:t>3.</a:t>
            </a:r>
            <a:endParaRPr lang="it-IT" dirty="0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CB0C32FF-D59A-FA3E-77E9-464FB4C861DF}"/>
              </a:ext>
            </a:extLst>
          </p:cNvPr>
          <p:cNvSpPr txBox="1"/>
          <p:nvPr/>
        </p:nvSpPr>
        <p:spPr>
          <a:xfrm>
            <a:off x="597022" y="4821260"/>
            <a:ext cx="406154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</a:rPr>
              <a:t>4.</a:t>
            </a:r>
            <a:endParaRPr lang="it-IT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B702EBE0-1A93-D25E-380C-1A61412E961D}"/>
              </a:ext>
            </a:extLst>
          </p:cNvPr>
          <p:cNvSpPr txBox="1"/>
          <p:nvPr/>
        </p:nvSpPr>
        <p:spPr>
          <a:xfrm>
            <a:off x="597022" y="5718016"/>
            <a:ext cx="406154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</a:rPr>
              <a:t>5.</a:t>
            </a:r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2085108"/>
            <a:ext cx="2084832" cy="3056799"/>
          </a:xfrm>
          <a:prstGeom prst="roundRect">
            <a:avLst>
              <a:gd name="adj" fmla="val 3947"/>
            </a:avLst>
          </a:prstGeom>
          <a:solidFill>
            <a:srgbClr val="EAF6F3"/>
          </a:solidFill>
          <a:ln/>
          <a:effectLst>
            <a:outerShdw blurRad="101600" dist="381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30352" y="23804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929060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(v16) — SSR/SSG, comunica solo con il Gateway via HTTP autenticato.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2472172" y="2855908"/>
            <a:ext cx="158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3472" y="2083786"/>
            <a:ext cx="2084832" cy="3058121"/>
          </a:xfrm>
          <a:prstGeom prst="roundRect">
            <a:avLst>
              <a:gd name="adj" fmla="val 3947"/>
            </a:avLst>
          </a:prstGeom>
          <a:solidFill>
            <a:srgbClr val="EAF6F3"/>
          </a:solidFill>
          <a:ln/>
          <a:effectLst>
            <a:outerShdw blurRad="101600" dist="381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2779776" y="23804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16352" y="2929060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 token JWT Firebase e instrada le richieste ai microservizi.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4721596" y="2855908"/>
            <a:ext cx="158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882896" y="2083786"/>
            <a:ext cx="2084832" cy="3058122"/>
          </a:xfrm>
          <a:prstGeom prst="roundRect">
            <a:avLst>
              <a:gd name="adj" fmla="val 3947"/>
            </a:avLst>
          </a:prstGeom>
          <a:solidFill>
            <a:srgbClr val="EAF6F3"/>
          </a:solidFill>
          <a:ln/>
          <a:effectLst>
            <a:outerShdw blurRad="101600" dist="381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5029200" y="23804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Service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65776" y="2929060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il profilo applicativo dell'utente in PostgreSQL.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6971020" y="2855908"/>
            <a:ext cx="158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132320" y="2083786"/>
            <a:ext cx="2084832" cy="3058122"/>
          </a:xfrm>
          <a:prstGeom prst="roundRect">
            <a:avLst>
              <a:gd name="adj" fmla="val 3947"/>
            </a:avLst>
          </a:prstGeom>
          <a:solidFill>
            <a:srgbClr val="0B6E64"/>
          </a:solidFill>
          <a:ln/>
          <a:effectLst>
            <a:outerShdw blurRad="101600" dist="38100" dir="5400000" algn="bl" rotWithShape="0">
              <a:srgbClr val="0B6E64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/>
          <p:nvPr/>
        </p:nvSpPr>
        <p:spPr>
          <a:xfrm>
            <a:off x="7278624" y="23804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Fridge Service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315200" y="2929060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Cuore del sistema: frigoriferi, membri, inviti, </a:t>
            </a:r>
            <a:r>
              <a:rPr lang="en-US" sz="1080" dirty="0" err="1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r>
              <a:rPr lang="en-US" sz="108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(MongoDB), equità.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9220444" y="2855908"/>
            <a:ext cx="158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381744" y="2083784"/>
            <a:ext cx="2084832" cy="3058123"/>
          </a:xfrm>
          <a:prstGeom prst="roundRect">
            <a:avLst>
              <a:gd name="adj" fmla="val 3947"/>
            </a:avLst>
          </a:prstGeom>
          <a:solidFill>
            <a:srgbClr val="EAF6F3"/>
          </a:solidFill>
          <a:ln/>
          <a:effectLst>
            <a:outerShdw blurRad="101600" dist="381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4"/>
          <p:cNvSpPr/>
          <p:nvPr/>
        </p:nvSpPr>
        <p:spPr>
          <a:xfrm>
            <a:off x="9528048" y="23804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Service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9564624" y="2929060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integra con OpenAI GPT-4o-mini per </a:t>
            </a:r>
            <a:r>
              <a:rPr lang="en-US" sz="108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</a:t>
            </a: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ricette</a:t>
            </a: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8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7EF92376-D5DB-0912-707F-E452CBF882C2}"/>
              </a:ext>
            </a:extLst>
          </p:cNvPr>
          <p:cNvSpPr/>
          <p:nvPr/>
        </p:nvSpPr>
        <p:spPr>
          <a:xfrm>
            <a:off x="6793992" y="600277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a microservizi  ·  Next.js · Express · PostgreSQL · MongoDB · OpenAI</a:t>
            </a:r>
            <a:endParaRPr lang="en-US" sz="1150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7F768435-F6EB-64A4-1B26-8B866DA56952}"/>
              </a:ext>
            </a:extLst>
          </p:cNvPr>
          <p:cNvSpPr txBox="1"/>
          <p:nvPr/>
        </p:nvSpPr>
        <p:spPr>
          <a:xfrm>
            <a:off x="503959" y="888981"/>
            <a:ext cx="11461572" cy="333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articolato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cinque component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responsabilità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 definite e confine </a:t>
            </a:r>
            <a:r>
              <a:rPr lang="en-US" sz="145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chiari</a:t>
            </a:r>
            <a:r>
              <a:rPr lang="en-US" sz="14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 ARCHITETTURALI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microservizi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417320" y="191109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Sviluppo parallelo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6384" y="2560320"/>
            <a:ext cx="3044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Confini netti tra servizi: package.json, build e container Docker indipendenti.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5120640" y="198761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Scalabilità selettiva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62856" y="2560320"/>
            <a:ext cx="3044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il componente sotto carico viene replicato (es. Recipe Service nei picchi).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01584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8915400" y="196923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dei guasti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9328" y="2560320"/>
            <a:ext cx="3044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malfunzionamento del Recipe Service non blocca inventario o autenticazione.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6"/>
          <p:cNvSpPr/>
          <p:nvPr/>
        </p:nvSpPr>
        <p:spPr>
          <a:xfrm>
            <a:off x="1074420" y="428853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Flessibilità tecnologica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86384" y="4937760"/>
            <a:ext cx="3044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servizio adotta il database più adatto al proprio dominio dei dati.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25112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0"/>
          <p:cNvSpPr/>
          <p:nvPr/>
        </p:nvSpPr>
        <p:spPr>
          <a:xfrm>
            <a:off x="5106924" y="4276459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indipendenti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62856" y="4937760"/>
            <a:ext cx="3044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CI/CD ricostruisce solo i container effettivamente modificati.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01584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4"/>
          <p:cNvSpPr/>
          <p:nvPr/>
        </p:nvSpPr>
        <p:spPr>
          <a:xfrm>
            <a:off x="8627364" y="428853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Sicurezza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39328" y="4937760"/>
            <a:ext cx="3044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Gateway è l'unico punto d'accesso; i servizi interni non sono esposti.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</a:t>
            </a: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 err="1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+ NoSQL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EAF6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B6E6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025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— dati relazionali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—&gt; attributi fissi (UID Firebase, username, email)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Fridges —&gt; proprietario e attributi stabili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Fridge_Members</a:t>
            </a: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—&gt; relazione molti-a-molti con vincoli di unicità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Fridge_Invitations</a:t>
            </a: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—&gt; token con scadenza, transazioni ACID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5074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integrità referenziale, transazionalità ACID, JOIN complesse, consistenza forte.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0B6E6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21086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025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— inventario alimenti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46520" y="265176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variabile: </a:t>
            </a:r>
            <a:r>
              <a:rPr lang="en-US" sz="1200" dirty="0" err="1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sharing_status annidato (uso comune, prestabile)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ricco passato all'LLM senza bisogno di JOIN</a:t>
            </a:r>
          </a:p>
        </p:txBody>
      </p:sp>
      <p:sp>
        <p:nvSpPr>
          <p:cNvPr id="15" name="Text 11"/>
          <p:cNvSpPr/>
          <p:nvPr/>
        </p:nvSpPr>
        <p:spPr>
          <a:xfrm>
            <a:off x="6446520" y="5074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variabilità dello schema e agilità </a:t>
            </a:r>
            <a:r>
              <a:rPr lang="en-US" sz="1100" i="1" dirty="0" err="1">
                <a:solidFill>
                  <a:srgbClr val="B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evolutiva</a:t>
            </a:r>
            <a:r>
              <a:rPr lang="en-US" sz="1100" i="1" dirty="0">
                <a:solidFill>
                  <a:srgbClr val="B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B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dell’inventario</a:t>
            </a:r>
            <a:r>
              <a:rPr lang="en-US" sz="1100" i="1" dirty="0">
                <a:solidFill>
                  <a:srgbClr val="B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Tecnologie e motivazioni di scelta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943100"/>
            <a:ext cx="2606040" cy="1234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67512" y="20802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(Frontend)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24460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SSR/SSG, SEO, prototipazione </a:t>
            </a:r>
            <a:r>
              <a:rPr lang="en-US" sz="98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</a:t>
            </a: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tramite</a:t>
            </a: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 </a:t>
            </a:r>
            <a:r>
              <a:rPr lang="en-US" sz="98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naativo</a:t>
            </a: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Tailwind e API Routes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319272" y="1943100"/>
            <a:ext cx="2606040" cy="1234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3456432" y="20802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 v.5 (Backend) 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83864" y="24460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minimalista, gestione nativa delle promise </a:t>
            </a:r>
            <a:r>
              <a:rPr lang="en-US" sz="98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</a:t>
            </a: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 handler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108192" y="1943100"/>
            <a:ext cx="2606040" cy="1234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6245352" y="20802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Auth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72784" y="24460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delegata, OAuth Google integrato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8897112" y="1943100"/>
            <a:ext cx="2606040" cy="1234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6"/>
          <p:cNvSpPr/>
          <p:nvPr/>
        </p:nvSpPr>
        <p:spPr>
          <a:xfrm>
            <a:off x="9034272" y="20802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61704" y="24460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Riproducibilità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30352" y="3680461"/>
            <a:ext cx="2606040" cy="1234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0"/>
          <p:cNvSpPr/>
          <p:nvPr/>
        </p:nvSpPr>
        <p:spPr>
          <a:xfrm>
            <a:off x="667512" y="3817621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94944" y="4183381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 rilevamento automatico dei servizi modificati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3319272" y="3707893"/>
            <a:ext cx="2606040" cy="1207008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24"/>
          <p:cNvSpPr/>
          <p:nvPr/>
        </p:nvSpPr>
        <p:spPr>
          <a:xfrm>
            <a:off x="3456432" y="3817621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ESLint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83864" y="4183381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statica, uniformità dello stile del codice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6108192" y="3707893"/>
            <a:ext cx="2606040" cy="1207008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Text 28"/>
          <p:cNvSpPr/>
          <p:nvPr/>
        </p:nvSpPr>
        <p:spPr>
          <a:xfrm>
            <a:off x="6245352" y="3817621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Jest &amp; Supertest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72784" y="4183381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dinamica e test delle API in memoria</a:t>
            </a:r>
            <a:endParaRPr lang="en-US" sz="980" dirty="0"/>
          </a:p>
        </p:txBody>
      </p:sp>
      <p:sp>
        <p:nvSpPr>
          <p:cNvPr id="39" name="Shape 30"/>
          <p:cNvSpPr/>
          <p:nvPr/>
        </p:nvSpPr>
        <p:spPr>
          <a:xfrm>
            <a:off x="8897112" y="3707893"/>
            <a:ext cx="2606040" cy="1207008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Text 32"/>
          <p:cNvSpPr/>
          <p:nvPr/>
        </p:nvSpPr>
        <p:spPr>
          <a:xfrm>
            <a:off x="9034272" y="3817621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GPT-4o-mini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061704" y="4183381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ricette: bilanciamento costo/qualità</a:t>
            </a:r>
            <a:endParaRPr lang="en-US" sz="98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ITERAZIONE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Requisiti e prioritizzazione (MVP)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971800" cy="502920"/>
          </a:xfrm>
          <a:prstGeom prst="roundRect">
            <a:avLst>
              <a:gd name="adj" fmla="val 50909"/>
            </a:avLst>
          </a:prstGeom>
          <a:solidFill>
            <a:srgbClr val="1D8F8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priorità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743200"/>
            <a:ext cx="2935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 err="1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</a:t>
            </a: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iniziale</a:t>
            </a: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80" dirty="0" err="1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</a:t>
            </a: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Login / Logout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creazione frigorifero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Inventario: aggiunta e rimozione alimenti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Invito e cancellazione frigorifero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325112" y="17373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99432" y="2011680"/>
            <a:ext cx="2971800" cy="502920"/>
          </a:xfrm>
          <a:prstGeom prst="roundRect">
            <a:avLst>
              <a:gd name="adj" fmla="val 50909"/>
            </a:avLst>
          </a:prstGeom>
          <a:solidFill>
            <a:srgbClr val="0F4B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99432" y="2011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priorità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2935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Alimenti di uso comune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Ricette personali e condivise (AI)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di sorting e di equità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Uscita volontaria e rimozione membri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101584" y="17373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6E64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8375904" y="2011680"/>
            <a:ext cx="2971800" cy="502920"/>
          </a:xfrm>
          <a:prstGeom prst="roundRect">
            <a:avLst>
              <a:gd name="adj" fmla="val 50909"/>
            </a:avLst>
          </a:prstGeom>
          <a:solidFill>
            <a:srgbClr val="5B73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375904" y="2011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Bassa priorità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94192" y="2743200"/>
            <a:ext cx="2935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Prestito alimenti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push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consumi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8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avanzate sui consumi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requisiti sono classificati per priorità secondo il principio agile del Minimum Viable Product (MVP).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ttangolo 69">
            <a:extLst>
              <a:ext uri="{FF2B5EF4-FFF2-40B4-BE49-F238E27FC236}">
                <a16:creationId xmlns:a16="http://schemas.microsoft.com/office/drawing/2014/main" id="{7A2768F4-A2BA-1672-78AF-E5E2F1912A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58724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Sviluppo</a:t>
            </a: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nucleo funzionale dell'applicazione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9098280" y="31521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055096" y="22407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58B3ABBF-1846-D7B9-E296-8FE31564941B}"/>
              </a:ext>
            </a:extLst>
          </p:cNvPr>
          <p:cNvSpPr/>
          <p:nvPr/>
        </p:nvSpPr>
        <p:spPr>
          <a:xfrm>
            <a:off x="512064" y="1966468"/>
            <a:ext cx="3520440" cy="3245104"/>
          </a:xfrm>
          <a:prstGeom prst="roundRect">
            <a:avLst>
              <a:gd name="adj" fmla="val 2597"/>
            </a:avLst>
          </a:prstGeom>
          <a:solidFill>
            <a:srgbClr val="1D8F84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31118D7F-A01F-89D0-FE07-AB823780A956}"/>
              </a:ext>
            </a:extLst>
          </p:cNvPr>
          <p:cNvSpPr/>
          <p:nvPr/>
        </p:nvSpPr>
        <p:spPr>
          <a:xfrm>
            <a:off x="694944" y="24043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Schermata</a:t>
            </a: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iniziale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6920C41F-5E5D-3B0E-EEEA-7099B87F417F}"/>
              </a:ext>
            </a:extLst>
          </p:cNvPr>
          <p:cNvSpPr/>
          <p:nvPr/>
        </p:nvSpPr>
        <p:spPr>
          <a:xfrm>
            <a:off x="694944" y="28341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100" dirty="0">
              <a:solidFill>
                <a:srgbClr val="EAF6F3"/>
              </a:solidFill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EFFF0E03-1ABC-016A-B7AF-65E6643E37DE}"/>
              </a:ext>
            </a:extLst>
          </p:cNvPr>
          <p:cNvSpPr/>
          <p:nvPr/>
        </p:nvSpPr>
        <p:spPr>
          <a:xfrm>
            <a:off x="804672" y="3291332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login(email o Google), logout via Firebase</a:t>
            </a:r>
            <a:endParaRPr lang="en-US" sz="11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7947957F-5822-B196-0160-D8980678F95C}"/>
              </a:ext>
            </a:extLst>
          </p:cNvPr>
          <p:cNvSpPr/>
          <p:nvPr/>
        </p:nvSpPr>
        <p:spPr>
          <a:xfrm>
            <a:off x="4288536" y="1966468"/>
            <a:ext cx="3520440" cy="3245104"/>
          </a:xfrm>
          <a:prstGeom prst="roundRect">
            <a:avLst>
              <a:gd name="adj" fmla="val 2597"/>
            </a:avLst>
          </a:prstGeom>
          <a:solidFill>
            <a:srgbClr val="1D8F84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E1762A8E-B956-5B41-1E0E-FBF45EAF8D18}"/>
              </a:ext>
            </a:extLst>
          </p:cNvPr>
          <p:cNvSpPr/>
          <p:nvPr/>
        </p:nvSpPr>
        <p:spPr>
          <a:xfrm>
            <a:off x="4471416" y="24043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F75BE3E7-BD91-573B-C214-D6CFC666AA4B}"/>
              </a:ext>
            </a:extLst>
          </p:cNvPr>
          <p:cNvSpPr/>
          <p:nvPr/>
        </p:nvSpPr>
        <p:spPr>
          <a:xfrm>
            <a:off x="4471416" y="28341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1100" dirty="0">
              <a:solidFill>
                <a:srgbClr val="EAF6F3"/>
              </a:solidFill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8E7137AD-3448-933E-64FD-53FD3AB0AF5F}"/>
              </a:ext>
            </a:extLst>
          </p:cNvPr>
          <p:cNvSpPr/>
          <p:nvPr/>
        </p:nvSpPr>
        <p:spPr>
          <a:xfrm>
            <a:off x="4581144" y="3291332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frigoriferi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nuovo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frigorifero</a:t>
            </a:r>
            <a:endParaRPr lang="en-US" sz="11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C8BB761F-C046-DD0D-AB9B-C8E04260AFE8}"/>
              </a:ext>
            </a:extLst>
          </p:cNvPr>
          <p:cNvSpPr/>
          <p:nvPr/>
        </p:nvSpPr>
        <p:spPr>
          <a:xfrm>
            <a:off x="8065008" y="1966468"/>
            <a:ext cx="3520440" cy="3245104"/>
          </a:xfrm>
          <a:prstGeom prst="roundRect">
            <a:avLst>
              <a:gd name="adj" fmla="val 2597"/>
            </a:avLst>
          </a:prstGeom>
          <a:solidFill>
            <a:srgbClr val="1D8F84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A1B589B8-EFD6-CBE8-BAD6-2B0C04E9760A}"/>
              </a:ext>
            </a:extLst>
          </p:cNvPr>
          <p:cNvSpPr/>
          <p:nvPr/>
        </p:nvSpPr>
        <p:spPr>
          <a:xfrm>
            <a:off x="8247888" y="24043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</a:t>
            </a: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</a:t>
            </a:r>
            <a:r>
              <a:rPr lang="en-US" sz="1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Membri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777CEEA0-AA14-F561-3E14-DAD9F65BDD4E}"/>
              </a:ext>
            </a:extLst>
          </p:cNvPr>
          <p:cNvSpPr/>
          <p:nvPr/>
        </p:nvSpPr>
        <p:spPr>
          <a:xfrm>
            <a:off x="8247888" y="28341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</a:t>
            </a:r>
            <a:endParaRPr lang="en-US" sz="1100" dirty="0">
              <a:solidFill>
                <a:srgbClr val="EAF6F3"/>
              </a:solidFill>
            </a:endParaRPr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7F2C0E73-6B4B-6C9B-795B-60229F421BDA}"/>
              </a:ext>
            </a:extLst>
          </p:cNvPr>
          <p:cNvSpPr/>
          <p:nvPr/>
        </p:nvSpPr>
        <p:spPr>
          <a:xfrm>
            <a:off x="8357616" y="3291332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Aggiunta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alimenti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proprietario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associato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Invito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tramite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token(24h) e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cancellazione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1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frigorifero</a:t>
            </a:r>
            <a:endParaRPr lang="en-US" sz="1150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1FA0063D-CFFF-85F2-27F4-B9B04B275F82}"/>
              </a:ext>
            </a:extLst>
          </p:cNvPr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Sviluppo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funzionalità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collaborative avanzate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2090420"/>
            <a:ext cx="3520440" cy="3317240"/>
          </a:xfrm>
          <a:prstGeom prst="roundRect">
            <a:avLst>
              <a:gd name="adj" fmla="val 2597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13232" y="26004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Condivisione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0302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UC5 · UC6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48742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Alimenti di uso comune e tracciamento del proprietario, propedeutici agli algoritmi successivi.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2090420"/>
            <a:ext cx="3520440" cy="3317240"/>
          </a:xfrm>
          <a:prstGeom prst="roundRect">
            <a:avLst>
              <a:gd name="adj" fmla="val 2597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4489704" y="26004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Ricette AI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89704" y="30302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UC7 · UC8 · UC9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99432" y="348742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Ricette personali e condivise via LLM, con ordinamento dell'inventario per urgenza.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83296" y="2090420"/>
            <a:ext cx="3520440" cy="3317240"/>
          </a:xfrm>
          <a:prstGeom prst="roundRect">
            <a:avLst>
              <a:gd name="adj" fmla="val 2597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8266176" y="26004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Gestione membri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66176" y="30302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UC10 · UC11 · UC12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75904" y="348742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di equità, uscita volontaria e rimozione di un membro dal frigorifero.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questa iterazione viene inoltre attivata la pipeline CI/CD tramite GitHub Actions.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9D91B943-80DD-B471-6E26-097197FCE25B}"/>
              </a:ext>
            </a:extLst>
          </p:cNvPr>
          <p:cNvSpPr/>
          <p:nvPr/>
        </p:nvSpPr>
        <p:spPr>
          <a:xfrm>
            <a:off x="9034272" y="-2194560"/>
            <a:ext cx="5029200" cy="5029200"/>
          </a:xfrm>
          <a:prstGeom prst="ellipse">
            <a:avLst/>
          </a:prstGeom>
          <a:solidFill>
            <a:srgbClr val="0B6E64">
              <a:alpha val="45000"/>
            </a:srgbClr>
          </a:solidFill>
          <a:ln/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UC9 — ALGORITMO DI SORTING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Ordinare l'inventario per urgenza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Modalità di ordinamento disponibili: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(A→Z / Z→A)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Scadenza (più imminente prima)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alimentare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Proprietario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Urgenza (score composito)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EAF6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 con compareFn personalizzata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Ricorsione e divisione:  </a:t>
            </a:r>
            <a:r>
              <a:rPr lang="en-US" sz="125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 </a:t>
            </a:r>
            <a:r>
              <a:rPr lang="en-US" sz="125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Totale:  </a:t>
            </a:r>
            <a:r>
              <a:rPr lang="en-US" sz="125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6000" y="1691640"/>
            <a:ext cx="5657850" cy="4343400"/>
          </a:xfrm>
          <a:prstGeom prst="roundRect">
            <a:avLst>
              <a:gd name="adj" fmla="val 2105"/>
            </a:avLst>
          </a:prstGeom>
          <a:solidFill>
            <a:srgbClr val="0B6E6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492240" y="2002536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composito di urgenza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200" y="2797302"/>
            <a:ext cx="5468112" cy="960120"/>
          </a:xfrm>
          <a:prstGeom prst="roundRect">
            <a:avLst>
              <a:gd name="adj" fmla="val 7619"/>
            </a:avLst>
          </a:prstGeom>
          <a:solidFill>
            <a:srgbClr val="0F4B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172200" y="2751582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expiryScore × 0.7 + (1 − </a:t>
            </a:r>
            <a:r>
              <a:rPr lang="en-US" sz="1300" dirty="0" err="1">
                <a:solidFill>
                  <a:srgbClr val="6F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categoryWeight</a:t>
            </a:r>
            <a:r>
              <a:rPr lang="en-US" sz="1300" dirty="0">
                <a:solidFill>
                  <a:srgbClr val="6F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× 0.3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92240" y="3886200"/>
            <a:ext cx="4828032" cy="960120"/>
          </a:xfrm>
          <a:prstGeom prst="roundRect">
            <a:avLst>
              <a:gd name="adj" fmla="val 7619"/>
            </a:avLst>
          </a:prstGeom>
          <a:solidFill>
            <a:srgbClr val="0F4B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629400" y="38862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expiryScore = clamp(daysUntilExpiry, 0, 30) / 30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70% sulla scadenza, 30% sulla categoria: gli alimenti più prossimi alla scadenza emergono per primi nell'inventario.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UC10 — ALGORITMO DI EQUITÀ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Distribuzione bilanciata dei contributi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calcola, per ogni membro, quanto ha contribuito rispetto a quanto ci si aspetterebbe, incrociando le ricette condivise (MongoDB) con i membri del frigorifero (PostgreSQL).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72980" y="2331720"/>
            <a:ext cx="5194935" cy="914400"/>
          </a:xfrm>
          <a:prstGeom prst="roundRect">
            <a:avLst>
              <a:gd name="adj" fmla="val 9000"/>
            </a:avLst>
          </a:prstGeom>
          <a:solidFill>
            <a:srgbClr val="0B6E6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516820" y="2322576"/>
            <a:ext cx="4951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contribution_rate = C / T     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E4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equity_index</a:t>
            </a:r>
            <a:r>
              <a:rPr lang="en-US" sz="1250" dirty="0">
                <a:solidFill>
                  <a:srgbClr val="E4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contribution_rate / </a:t>
            </a:r>
            <a:r>
              <a:rPr lang="en-US" sz="1250" dirty="0" err="1">
                <a:solidFill>
                  <a:srgbClr val="E4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expected_rate</a:t>
            </a:r>
            <a:r>
              <a:rPr lang="en-US" sz="1250" dirty="0">
                <a:solidFill>
                  <a:srgbClr val="E4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E4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display_score</a:t>
            </a:r>
            <a:r>
              <a:rPr lang="en-US" sz="1250" dirty="0">
                <a:solidFill>
                  <a:srgbClr val="E4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equity_index × confidence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430512" y="35204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0326624" y="3703320"/>
            <a:ext cx="292608" cy="292608"/>
          </a:xfrm>
          <a:prstGeom prst="ellipse">
            <a:avLst/>
          </a:prstGeom>
          <a:solidFill>
            <a:srgbClr val="9FD5E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521952" y="408736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≥ 1.1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1952" y="44165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Contribuisce troppo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54240" y="35204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150352" y="3703320"/>
            <a:ext cx="292608" cy="29260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345680" y="408736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≥ s &gt; 1.1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45680" y="44165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equilibrio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7968" y="3502342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974080" y="3685222"/>
            <a:ext cx="292608" cy="29260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169408" y="406927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≥ s &gt; 0.9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9408" y="439845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Contribuisce poco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01696" y="3500818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797808" y="3683698"/>
            <a:ext cx="292608" cy="292608"/>
          </a:xfrm>
          <a:prstGeom prst="ellipse">
            <a:avLst/>
          </a:prstGeom>
          <a:solidFill>
            <a:srgbClr val="F492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993136" y="406774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≥ s &gt; 0.6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93136" y="439693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Contribuisce raramente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5424" y="3500818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B6E64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1621536" y="3683698"/>
            <a:ext cx="292608" cy="292608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16864" y="406774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&lt; 0.3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6864" y="439693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contribuisce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Complessità: O(r × m × i) → approssimabile a O(r) per numeri realistici di membri e ingredienti per ricetta.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1E230D21-9A43-0680-7A54-0091102DBD5A}"/>
              </a:ext>
            </a:extLst>
          </p:cNvPr>
          <p:cNvSpPr/>
          <p:nvPr/>
        </p:nvSpPr>
        <p:spPr>
          <a:xfrm>
            <a:off x="10882884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Leggenda</a:t>
            </a:r>
            <a:r>
              <a:rPr lang="en-US" sz="11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-&gt; score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UC7 · UC8 — RICETTE CON LLM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Creazione</a:t>
            </a: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ricetta</a:t>
            </a: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 </a:t>
            </a:r>
            <a:r>
              <a:rPr lang="en-US" sz="3000" b="1" dirty="0" err="1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integrazione</a:t>
            </a: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258568"/>
            <a:ext cx="2606040" cy="2679192"/>
          </a:xfrm>
          <a:prstGeom prst="roundRect">
            <a:avLst>
              <a:gd name="adj" fmla="val 3158"/>
            </a:avLst>
          </a:prstGeom>
          <a:solidFill>
            <a:srgbClr val="EAF6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636776" y="2592324"/>
            <a:ext cx="240030" cy="22860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636776" y="2592324"/>
            <a:ext cx="24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Selezione ingredienti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L'utente sceglie almeno 2 alimenti dall'inventario personale o condiviso.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063240" y="3566160"/>
            <a:ext cx="2084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82696" y="2258568"/>
            <a:ext cx="2606040" cy="2679192"/>
          </a:xfrm>
          <a:prstGeom prst="roundRect">
            <a:avLst>
              <a:gd name="adj" fmla="val 3158"/>
            </a:avLst>
          </a:prstGeom>
          <a:solidFill>
            <a:srgbClr val="EAF6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465701" y="2576322"/>
            <a:ext cx="240030" cy="22860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465701" y="2576322"/>
            <a:ext cx="24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19856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Costruzione del prompt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465576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Recipe Service costruisce un prompt strutturato con nome, categoria e quantità.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902986" y="3566160"/>
            <a:ext cx="2084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108192" y="2258568"/>
            <a:ext cx="2606040" cy="2679192"/>
          </a:xfrm>
          <a:prstGeom prst="roundRect">
            <a:avLst>
              <a:gd name="adj" fmla="val 3158"/>
            </a:avLst>
          </a:prstGeom>
          <a:solidFill>
            <a:srgbClr val="EAF6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7"/>
          <p:cNvSpPr/>
          <p:nvPr/>
        </p:nvSpPr>
        <p:spPr>
          <a:xfrm>
            <a:off x="7295388" y="2531745"/>
            <a:ext cx="240030" cy="22860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8"/>
          <p:cNvSpPr/>
          <p:nvPr/>
        </p:nvSpPr>
        <p:spPr>
          <a:xfrm>
            <a:off x="7295388" y="2531745"/>
            <a:ext cx="24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245352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Chiamata a GPT-4o-mini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291072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HTTP POST all'API OpenAI, che restituisce ricette in formato JSON.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714232" y="3566160"/>
            <a:ext cx="2084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933688" y="2258568"/>
            <a:ext cx="2606040" cy="2679192"/>
          </a:xfrm>
          <a:prstGeom prst="roundRect">
            <a:avLst>
              <a:gd name="adj" fmla="val 3158"/>
            </a:avLst>
          </a:prstGeom>
          <a:solidFill>
            <a:srgbClr val="EAF6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10102215" y="2571750"/>
            <a:ext cx="240030" cy="233172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10102215" y="2571750"/>
            <a:ext cx="24003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070848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Selezione e consumo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9116568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L'utente sceglie una ricetta; gli ingredienti usati vengono rimossi dall'inventario.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Personale: solo ingredienti dell'utente.   </a:t>
            </a:r>
          </a:p>
          <a:p>
            <a:pPr marL="0" indent="0">
              <a:buNone/>
            </a:pPr>
            <a:r>
              <a:rPr lang="en-US" sz="1150" i="1" dirty="0" err="1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Condivisa</a:t>
            </a:r>
            <a:r>
              <a:rPr lang="en-US" sz="11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intero inventario comune, con impatto sull'algoritmo di equità.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INFRASTRUTTURA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CI/CD e deployment Kubernetes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606040" cy="1673352"/>
          </a:xfrm>
          <a:prstGeom prst="roundRect">
            <a:avLst>
              <a:gd name="adj" fmla="val 3529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67512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Rilevamento modifiche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245059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Path-filter identifica i microservizi effettivamente modificati nel monorepo.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45536" y="1965960"/>
            <a:ext cx="2084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55848" y="1755648"/>
            <a:ext cx="2606040" cy="1673352"/>
          </a:xfrm>
          <a:prstGeom prst="roundRect">
            <a:avLst>
              <a:gd name="adj" fmla="val 3529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3493008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e test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20440" y="245059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Madge (dipendenze circolari), ESLint (lint) e Jest (test unitari) per ogni servizio.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971032" y="1965960"/>
            <a:ext cx="2084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81344" y="1755648"/>
            <a:ext cx="2606040" cy="1673352"/>
          </a:xfrm>
          <a:prstGeom prst="roundRect">
            <a:avLst>
              <a:gd name="adj" fmla="val 3529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6318504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push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5936" y="245059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Immagini Docker multi-stage pubblicate sul registry con tag latest e commit hash.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796528" y="1965960"/>
            <a:ext cx="2084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9006840" y="1755648"/>
            <a:ext cx="2606040" cy="1673352"/>
          </a:xfrm>
          <a:prstGeom prst="roundRect">
            <a:avLst>
              <a:gd name="adj" fmla="val 3529"/>
            </a:avLst>
          </a:prstGeom>
          <a:solidFill>
            <a:srgbClr val="0F4B45"/>
          </a:solidFill>
          <a:ln w="12700">
            <a:solidFill>
              <a:srgbClr val="1E6E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/>
          <p:nvPr/>
        </p:nvSpPr>
        <p:spPr>
          <a:xfrm>
            <a:off x="91440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Kubernetes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71432" y="245059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su Oracle Cloud (ARM), orchestrato da un Action Runner Controller.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38039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Topologia del cluster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48640" y="3995928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frontend-deployment — livello di presentazione (Next.js)</a:t>
            </a:r>
            <a:endParaRPr lang="en-US" sz="118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— mediatore delle richieste verso il backend</a:t>
            </a:r>
            <a:endParaRPr lang="en-US" sz="118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api-deployment — fridge, recipe e user service aggregati</a:t>
            </a:r>
            <a:endParaRPr lang="en-US" sz="118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 MongoDB — deployment indipendenti (poliglotta)</a:t>
            </a:r>
            <a:endParaRPr lang="en-US" sz="118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— reverse proxy e routing HTTP/HTTPS verso il cluster</a:t>
            </a:r>
            <a:endParaRPr lang="en-US" sz="118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1B9FE204-6B81-2035-C2C2-5F5C42A1C0BC}"/>
              </a:ext>
            </a:extLst>
          </p:cNvPr>
          <p:cNvSpPr/>
          <p:nvPr/>
        </p:nvSpPr>
        <p:spPr>
          <a:xfrm>
            <a:off x="9308592" y="4096512"/>
            <a:ext cx="5029200" cy="5029200"/>
          </a:xfrm>
          <a:prstGeom prst="ellipse">
            <a:avLst/>
          </a:prstGeom>
          <a:solidFill>
            <a:srgbClr val="0B6E64">
              <a:alpha val="45000"/>
            </a:srgbClr>
          </a:solidFill>
          <a:ln/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DEL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statica e dinamica del codice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EAF6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22960" y="210860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statica — ESLint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2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Rilevazione di errori di sintassi e variabili non definite</a:t>
            </a:r>
            <a:endParaRPr lang="en-US" sz="122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2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delle convenzioni di stile del team</a:t>
            </a:r>
            <a:endParaRPr lang="en-US" sz="122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2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Individuazione di pattern problematici (es. == vs ===)</a:t>
            </a:r>
            <a:endParaRPr lang="en-US" sz="122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2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Dipendenze circolari rilevate tramite Madge in pipeline CI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22960" y="51663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Un'analisi fallita blocca il processo di build in CI.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0B6E6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446520" y="206288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dinamica — Jest &amp; Supertest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46520" y="274320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2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delle dipendenze esterne (database, servizi terzi)</a:t>
            </a:r>
            <a:endParaRPr lang="en-US" sz="122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2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di coverage automatici (HTML e LCOV)</a:t>
            </a:r>
            <a:endParaRPr lang="en-US" sz="122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2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HTTP in memoria senza avviare un server reale</a:t>
            </a:r>
            <a:endParaRPr lang="en-US" sz="122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2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testato manualmente con Postman (Firebase reale)</a:t>
            </a:r>
            <a:endParaRPr lang="en-US" sz="1220" dirty="0"/>
          </a:p>
        </p:txBody>
      </p:sp>
      <p:sp>
        <p:nvSpPr>
          <p:cNvPr id="15" name="Text 11"/>
          <p:cNvSpPr/>
          <p:nvPr/>
        </p:nvSpPr>
        <p:spPr>
          <a:xfrm>
            <a:off x="6446520" y="51663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Applicato su Gateway, Fridge, User e Recipe Service in ogni iterazione.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SFRIGO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B6E64">
              <a:alpha val="4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685032" y="28346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4000" i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PER L’ATTENZIONE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A37F2AC4-9E86-1C4F-21DB-B80CC46115AC}"/>
              </a:ext>
            </a:extLst>
          </p:cNvPr>
          <p:cNvSpPr/>
          <p:nvPr/>
        </p:nvSpPr>
        <p:spPr>
          <a:xfrm>
            <a:off x="-1828800" y="-2194560"/>
            <a:ext cx="5029200" cy="5029200"/>
          </a:xfrm>
          <a:prstGeom prst="ellipse">
            <a:avLst/>
          </a:prstGeom>
          <a:solidFill>
            <a:srgbClr val="0B6E64">
              <a:alpha val="4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D4E9A76B-9DD0-1E46-9315-249C6A801602}"/>
              </a:ext>
            </a:extLst>
          </p:cNvPr>
          <p:cNvSpPr/>
          <p:nvPr/>
        </p:nvSpPr>
        <p:spPr>
          <a:xfrm>
            <a:off x="9034272" y="3840480"/>
            <a:ext cx="5029200" cy="5029200"/>
          </a:xfrm>
          <a:prstGeom prst="ellipse">
            <a:avLst/>
          </a:prstGeom>
          <a:solidFill>
            <a:srgbClr val="0B6E64">
              <a:alpha val="4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B6173833-DA5F-4364-30D1-AA0B8B454079}"/>
              </a:ext>
            </a:extLst>
          </p:cNvPr>
          <p:cNvSpPr/>
          <p:nvPr/>
        </p:nvSpPr>
        <p:spPr>
          <a:xfrm>
            <a:off x="9034272" y="-2194560"/>
            <a:ext cx="5029200" cy="5029200"/>
          </a:xfrm>
          <a:prstGeom prst="ellipse">
            <a:avLst/>
          </a:prstGeom>
          <a:solidFill>
            <a:srgbClr val="0B6E64">
              <a:alpha val="45000"/>
            </a:srgbClr>
          </a:solidFill>
          <a:ln/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1425</Words>
  <Application>Microsoft Office PowerPoint</Application>
  <PresentationFormat>Widescreen</PresentationFormat>
  <Paragraphs>259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Sfrigo - Presentazione di Progetto</dc:title>
  <dc:subject>PptxGenJS Presentation</dc:subject>
  <dc:creator>Sfrigo Team</dc:creator>
  <cp:lastModifiedBy>ANDREI PETRISOR</cp:lastModifiedBy>
  <cp:revision>20</cp:revision>
  <dcterms:created xsi:type="dcterms:W3CDTF">2026-07-02T18:18:50Z</dcterms:created>
  <dcterms:modified xsi:type="dcterms:W3CDTF">2026-07-03T21:14:57Z</dcterms:modified>
</cp:coreProperties>
</file>